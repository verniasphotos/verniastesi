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753600" cy="7315200"/>
  <p:notesSz cx="6858000" cy="9144000"/>
  <p:embeddedFontLst>
    <p:embeddedFont>
      <p:font typeface="Calibri (MS) Bold" charset="1" panose="020F0702030404030204"/>
      <p:regular r:id="rId27"/>
    </p:embeddedFont>
    <p:embeddedFont>
      <p:font typeface="Calibri (MS)" charset="1" panose="020F0502020204030204"/>
      <p:regular r:id="rId28"/>
    </p:embeddedFont>
    <p:embeddedFont>
      <p:font typeface="Verdana Bold" charset="1" panose="020B0804030504040204"/>
      <p:regular r:id="rId29"/>
    </p:embeddedFont>
    <p:embeddedFont>
      <p:font typeface="Verdana" charset="1" panose="020B060403050404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7.jpeg" Type="http://schemas.openxmlformats.org/officeDocument/2006/relationships/image"/><Relationship Id="rId4" Target="../media/VAHHZ-zJXXY.mp4" Type="http://schemas.openxmlformats.org/officeDocument/2006/relationships/video"/><Relationship Id="rId5" Target="../media/VAHHZ-zJXXY.mp4" Type="http://schemas.microsoft.com/office/2007/relationships/media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7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32081" y="2407501"/>
            <a:ext cx="7689437" cy="4267835"/>
            <a:chOff x="0" y="0"/>
            <a:chExt cx="10252583" cy="56904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52587" cy="5690441"/>
            </a:xfrm>
            <a:custGeom>
              <a:avLst/>
              <a:gdLst/>
              <a:ahLst/>
              <a:cxnLst/>
              <a:rect r="r" b="b" t="t" l="l"/>
              <a:pathLst>
                <a:path h="5690441" w="10252587">
                  <a:moveTo>
                    <a:pt x="0" y="0"/>
                  </a:moveTo>
                  <a:lnTo>
                    <a:pt x="10252587" y="0"/>
                  </a:lnTo>
                  <a:lnTo>
                    <a:pt x="10252587" y="5690441"/>
                  </a:lnTo>
                  <a:lnTo>
                    <a:pt x="0" y="56904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1211" t="0" r="-21211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0252583" cy="57475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83"/>
                </a:lnSpc>
              </a:pPr>
              <a:r>
                <a:rPr lang="en-US" sz="2986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</a:t>
              </a:r>
              <a:r>
                <a:rPr lang="en-US" sz="2986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 e simulazione di un'architettura 6G centralizzata per il tracking di droni indoor assistita da RIS</a:t>
              </a:r>
            </a:p>
            <a:p>
              <a:pPr algn="l">
                <a:lnSpc>
                  <a:spcPts val="3583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Candidato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Matteo Verniani</a:t>
              </a:r>
            </a:p>
            <a:p>
              <a:pPr algn="l">
                <a:lnSpc>
                  <a:spcPts val="3583"/>
                </a:lnSpc>
              </a:pPr>
            </a:p>
            <a:p>
              <a:pPr algn="l">
                <a:lnSpc>
                  <a:spcPts val="2304"/>
                </a:lnSpc>
              </a:pPr>
              <a:r>
                <a:rPr lang="en-US" sz="192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Relatore</a:t>
              </a:r>
            </a:p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Prof. Francesco Chiti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744577" y="6791630"/>
            <a:ext cx="1714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A.A. 2025/2026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72602" y="258909"/>
            <a:ext cx="4203240" cy="139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4"/>
              </a:lnSpc>
            </a:pPr>
            <a:r>
              <a:rPr lang="en-US" sz="192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Dipartimento di Ingegneria dell’Informazione</a:t>
            </a:r>
          </a:p>
          <a:p>
            <a:pPr algn="r">
              <a:lnSpc>
                <a:spcPts val="2304"/>
              </a:lnSpc>
            </a:pPr>
            <a:r>
              <a:rPr lang="en-US" sz="192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Corso di Laurea Triennale in Ingegneria Elettronica e delle Telecomunicazioni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35300" y="7074170"/>
            <a:ext cx="79474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90464" y="1674254"/>
            <a:ext cx="2172672" cy="69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5"/>
              </a:lnSpc>
            </a:pPr>
            <a:r>
              <a:rPr lang="en-US" sz="394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Sommario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33236" y="2521000"/>
            <a:ext cx="5687128" cy="282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976" indent="-326488" lvl="1">
              <a:lnSpc>
                <a:spcPts val="3629"/>
              </a:lnSpc>
              <a:buAutoNum type="arabicPeriod" startAt="1"/>
            </a:pPr>
            <a:r>
              <a:rPr lang="en-US" b="true" sz="302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Contesto e Motivazioni</a:t>
            </a:r>
          </a:p>
          <a:p>
            <a:pPr algn="l" marL="652976" indent="-326488" lvl="1">
              <a:lnSpc>
                <a:spcPts val="3629"/>
              </a:lnSpc>
              <a:buAutoNum type="arabicPeriod" startAt="1"/>
            </a:pPr>
            <a:r>
              <a:rPr lang="en-US" b="true" sz="302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Architettura del Digital Twin</a:t>
            </a:r>
          </a:p>
          <a:p>
            <a:pPr algn="l" marL="652976" indent="-326488" lvl="1">
              <a:lnSpc>
                <a:spcPts val="3629"/>
              </a:lnSpc>
              <a:buAutoNum type="arabicPeriod" startAt="1"/>
            </a:pPr>
            <a:r>
              <a:rPr lang="en-US" b="true" sz="302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Algoritmi di Tracking (EKF/LSTM)</a:t>
            </a:r>
          </a:p>
          <a:p>
            <a:pPr algn="l" marL="652976" indent="-326488" lvl="1">
              <a:lnSpc>
                <a:spcPts val="3629"/>
              </a:lnSpc>
              <a:buAutoNum type="arabicPeriod" startAt="1"/>
            </a:pPr>
            <a:r>
              <a:rPr lang="en-US" b="true" sz="302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Risultati Sperimentali</a:t>
            </a:r>
          </a:p>
          <a:p>
            <a:pPr algn="l" marL="652976" indent="-326488" lvl="1">
              <a:lnSpc>
                <a:spcPts val="3629"/>
              </a:lnSpc>
              <a:buAutoNum type="arabicPeriod" startAt="1"/>
            </a:pPr>
            <a:r>
              <a:rPr lang="en-US" b="true" sz="302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Conclusioni e sviluppi futuri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29005" y="1768659"/>
            <a:ext cx="3777883" cy="3777883"/>
          </a:xfrm>
          <a:custGeom>
            <a:avLst/>
            <a:gdLst/>
            <a:ahLst/>
            <a:cxnLst/>
            <a:rect r="r" b="b" t="t" l="l"/>
            <a:pathLst>
              <a:path h="3777883" w="3777883">
                <a:moveTo>
                  <a:pt x="0" y="0"/>
                </a:moveTo>
                <a:lnTo>
                  <a:pt x="3777883" y="0"/>
                </a:lnTo>
                <a:lnTo>
                  <a:pt x="3777883" y="3777882"/>
                </a:lnTo>
                <a:lnTo>
                  <a:pt x="0" y="3777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235300" y="7074170"/>
            <a:ext cx="79474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5552" y="987483"/>
            <a:ext cx="390249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Motivazione e Scenario 6G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0612" y="2347912"/>
            <a:ext cx="4868185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0582" indent="-175291" lvl="1">
              <a:lnSpc>
                <a:spcPts val="19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Logistica 4.0: Droni e sensori IoT nei magazzini VNA (Very Narrow Aisle).</a:t>
            </a:r>
          </a:p>
          <a:p>
            <a:pPr algn="l">
              <a:lnSpc>
                <a:spcPts val="1948"/>
              </a:lnSpc>
              <a:spcBef>
                <a:spcPct val="0"/>
              </a:spcBef>
            </a:pPr>
          </a:p>
          <a:p>
            <a:pPr algn="l" marL="350582" indent="-175291" lvl="1">
              <a:lnSpc>
                <a:spcPts val="19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Problema: No GPS, radiolocalizzazione instabile per i materiali industriali.</a:t>
            </a:r>
          </a:p>
          <a:p>
            <a:pPr algn="l">
              <a:lnSpc>
                <a:spcPts val="1948"/>
              </a:lnSpc>
              <a:spcBef>
                <a:spcPct val="0"/>
              </a:spcBef>
            </a:pPr>
          </a:p>
          <a:p>
            <a:pPr algn="l" marL="350582" indent="-175291" lvl="1">
              <a:lnSpc>
                <a:spcPts val="19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Soluzione 6G: Non solo banda larga, ma URLLC.</a:t>
            </a:r>
          </a:p>
          <a:p>
            <a:pPr algn="l">
              <a:lnSpc>
                <a:spcPts val="1948"/>
              </a:lnSpc>
              <a:spcBef>
                <a:spcPct val="0"/>
              </a:spcBef>
            </a:pPr>
          </a:p>
          <a:p>
            <a:pPr algn="l" marL="350582" indent="-175291" lvl="1">
              <a:lnSpc>
                <a:spcPts val="19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La rete wireless come un Sensore Distribuito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5941" y="1592011"/>
            <a:ext cx="2335597" cy="1684549"/>
          </a:xfrm>
          <a:custGeom>
            <a:avLst/>
            <a:gdLst/>
            <a:ahLst/>
            <a:cxnLst/>
            <a:rect r="r" b="b" t="t" l="l"/>
            <a:pathLst>
              <a:path h="1684549" w="2335597">
                <a:moveTo>
                  <a:pt x="0" y="0"/>
                </a:moveTo>
                <a:lnTo>
                  <a:pt x="2335597" y="0"/>
                </a:lnTo>
                <a:lnTo>
                  <a:pt x="2335597" y="1684549"/>
                </a:lnTo>
                <a:lnTo>
                  <a:pt x="0" y="1684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22720" y="1309978"/>
            <a:ext cx="3205629" cy="3205629"/>
          </a:xfrm>
          <a:custGeom>
            <a:avLst/>
            <a:gdLst/>
            <a:ahLst/>
            <a:cxnLst/>
            <a:rect r="r" b="b" t="t" l="l"/>
            <a:pathLst>
              <a:path h="3205629" w="3205629">
                <a:moveTo>
                  <a:pt x="0" y="0"/>
                </a:moveTo>
                <a:lnTo>
                  <a:pt x="3205629" y="0"/>
                </a:lnTo>
                <a:lnTo>
                  <a:pt x="3205629" y="3205630"/>
                </a:lnTo>
                <a:lnTo>
                  <a:pt x="0" y="3205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4476" y="4038600"/>
            <a:ext cx="2919894" cy="2182621"/>
          </a:xfrm>
          <a:custGeom>
            <a:avLst/>
            <a:gdLst/>
            <a:ahLst/>
            <a:cxnLst/>
            <a:rect r="r" b="b" t="t" l="l"/>
            <a:pathLst>
              <a:path h="2182621" w="2919894">
                <a:moveTo>
                  <a:pt x="0" y="0"/>
                </a:moveTo>
                <a:lnTo>
                  <a:pt x="2919894" y="0"/>
                </a:lnTo>
                <a:lnTo>
                  <a:pt x="2919894" y="2182621"/>
                </a:lnTo>
                <a:lnTo>
                  <a:pt x="0" y="2182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35300" y="7074170"/>
            <a:ext cx="79474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7333" y="664845"/>
            <a:ext cx="527893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Il Problema NLoS  e la Soluzione RIS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3438525"/>
            <a:ext cx="443856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9"/>
              </a:lnSpc>
              <a:spcBef>
                <a:spcPct val="0"/>
              </a:spcBef>
            </a:pPr>
            <a:r>
              <a:rPr lang="en-US" b="true" sz="1382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Non-Line-of-Sight: Scaffali metallici attenuano severamente il segnale a 5.9 GHz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09751" y="4800559"/>
            <a:ext cx="4074683" cy="850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2472" indent="-121236" lvl="1">
              <a:lnSpc>
                <a:spcPts val="13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1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Le RIS (Reconfigurable Intelligent Surfaces) come "Specchi Radio Intelligenti"</a:t>
            </a:r>
          </a:p>
          <a:p>
            <a:pPr algn="l" marL="242472" indent="-121236" lvl="1">
              <a:lnSpc>
                <a:spcPts val="13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1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Riflettono e focalizzano elettronicamente il segnale verso il drone</a:t>
            </a:r>
          </a:p>
          <a:p>
            <a:pPr algn="l" marL="242472" indent="-121236" lvl="1">
              <a:lnSpc>
                <a:spcPts val="13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1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Creano una cascata di visibilità radio assistita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58539" y="2603415"/>
            <a:ext cx="3836522" cy="3919818"/>
          </a:xfrm>
          <a:custGeom>
            <a:avLst/>
            <a:gdLst/>
            <a:ahLst/>
            <a:cxnLst/>
            <a:rect r="r" b="b" t="t" l="l"/>
            <a:pathLst>
              <a:path h="3919818" w="3836522">
                <a:moveTo>
                  <a:pt x="0" y="0"/>
                </a:moveTo>
                <a:lnTo>
                  <a:pt x="3836522" y="0"/>
                </a:lnTo>
                <a:lnTo>
                  <a:pt x="3836522" y="3919818"/>
                </a:lnTo>
                <a:lnTo>
                  <a:pt x="0" y="3919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235300" y="7074170"/>
            <a:ext cx="79474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79911" y="664845"/>
            <a:ext cx="439377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Logica e Cinematica del Drone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642" y="1482715"/>
            <a:ext cx="7976316" cy="77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0"/>
              </a:lnSpc>
              <a:spcBef>
                <a:spcPct val="0"/>
              </a:spcBef>
            </a:pPr>
            <a:r>
              <a:rPr lang="en-US" b="true" sz="1267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Modellazione cinematica del drone in 6 DoF (gradi di libertà: x , y , z e angoli di Eulero).</a:t>
            </a:r>
          </a:p>
          <a:p>
            <a:pPr algn="ctr">
              <a:lnSpc>
                <a:spcPts val="1520"/>
              </a:lnSpc>
              <a:spcBef>
                <a:spcPct val="0"/>
              </a:spcBef>
            </a:pPr>
            <a:r>
              <a:rPr lang="en-US" b="true" sz="1267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L’UAV virtuale naviga a v = 3 m/s inviando telemetria costante.</a:t>
            </a:r>
          </a:p>
          <a:p>
            <a:pPr algn="ctr">
              <a:lnSpc>
                <a:spcPts val="1520"/>
              </a:lnSpc>
              <a:spcBef>
                <a:spcPct val="0"/>
              </a:spcBef>
            </a:pPr>
            <a:r>
              <a:rPr lang="en-US" b="true" sz="1267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Sensori di bordo (accelerometro, giroscopio) introducono Rumore IMU e deriva termica.</a:t>
            </a:r>
          </a:p>
          <a:p>
            <a:pPr algn="ctr">
              <a:lnSpc>
                <a:spcPts val="1520"/>
              </a:lnSpc>
              <a:spcBef>
                <a:spcPct val="0"/>
              </a:spcBef>
            </a:pPr>
            <a:r>
              <a:rPr lang="en-US" b="true" sz="1267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Necessità vitale di una correzione posizionale esterna dal Server SDN.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0168" y="1389181"/>
            <a:ext cx="3240444" cy="5063194"/>
          </a:xfrm>
          <a:custGeom>
            <a:avLst/>
            <a:gdLst/>
            <a:ahLst/>
            <a:cxnLst/>
            <a:rect r="r" b="b" t="t" l="l"/>
            <a:pathLst>
              <a:path h="5063194" w="3240444">
                <a:moveTo>
                  <a:pt x="0" y="0"/>
                </a:moveTo>
                <a:lnTo>
                  <a:pt x="3240444" y="0"/>
                </a:lnTo>
                <a:lnTo>
                  <a:pt x="3240444" y="5063194"/>
                </a:lnTo>
                <a:lnTo>
                  <a:pt x="0" y="50631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93811" y="1892655"/>
            <a:ext cx="4520504" cy="3727802"/>
          </a:xfrm>
          <a:custGeom>
            <a:avLst/>
            <a:gdLst/>
            <a:ahLst/>
            <a:cxnLst/>
            <a:rect r="r" b="b" t="t" l="l"/>
            <a:pathLst>
              <a:path h="3727802" w="4520504">
                <a:moveTo>
                  <a:pt x="0" y="0"/>
                </a:moveTo>
                <a:lnTo>
                  <a:pt x="4520504" y="0"/>
                </a:lnTo>
                <a:lnTo>
                  <a:pt x="4520504" y="3727803"/>
                </a:lnTo>
                <a:lnTo>
                  <a:pt x="0" y="3727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264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13856" y="7074170"/>
            <a:ext cx="200918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‹5›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8704" y="664845"/>
            <a:ext cx="477619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Il Digital Twin: I 8 Moduli Python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50415" y="1275421"/>
            <a:ext cx="4764359" cy="4764359"/>
          </a:xfrm>
          <a:custGeom>
            <a:avLst/>
            <a:gdLst/>
            <a:ahLst/>
            <a:cxnLst/>
            <a:rect r="r" b="b" t="t" l="l"/>
            <a:pathLst>
              <a:path h="4764359" w="4764359">
                <a:moveTo>
                  <a:pt x="0" y="0"/>
                </a:moveTo>
                <a:lnTo>
                  <a:pt x="4764359" y="0"/>
                </a:lnTo>
                <a:lnTo>
                  <a:pt x="4764359" y="4764358"/>
                </a:lnTo>
                <a:lnTo>
                  <a:pt x="0" y="4764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13856" y="7074170"/>
            <a:ext cx="200918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‹6›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33551" y="664845"/>
            <a:ext cx="38864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Architettura Server e gRPC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3023" y="2370364"/>
            <a:ext cx="3909232" cy="173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7"/>
              </a:lnSpc>
              <a:spcBef>
                <a:spcPct val="0"/>
              </a:spcBef>
            </a:pPr>
            <a:r>
              <a:rPr lang="en-US" b="true" sz="14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Archit</a:t>
            </a:r>
            <a:r>
              <a:rPr lang="en-US" b="true" sz="14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ettura basata su paradigma SDN</a:t>
            </a:r>
          </a:p>
          <a:p>
            <a:pPr algn="ctr">
              <a:lnSpc>
                <a:spcPts val="1707"/>
              </a:lnSpc>
              <a:spcBef>
                <a:spcPct val="0"/>
              </a:spcBef>
            </a:pPr>
            <a:r>
              <a:rPr lang="en-US" b="true" sz="14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(O-RAN).</a:t>
            </a:r>
          </a:p>
          <a:p>
            <a:pPr algn="ctr">
              <a:lnSpc>
                <a:spcPts val="1707"/>
              </a:lnSpc>
              <a:spcBef>
                <a:spcPct val="0"/>
              </a:spcBef>
            </a:pPr>
            <a:r>
              <a:rPr lang="en-US" b="true" sz="14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Separazione logica tra Piano Dati</a:t>
            </a:r>
          </a:p>
          <a:p>
            <a:pPr algn="ctr">
              <a:lnSpc>
                <a:spcPts val="1707"/>
              </a:lnSpc>
              <a:spcBef>
                <a:spcPct val="0"/>
              </a:spcBef>
            </a:pPr>
            <a:r>
              <a:rPr lang="en-US" b="true" sz="14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(Mondo fisico) e Piano di Controllo</a:t>
            </a:r>
          </a:p>
          <a:p>
            <a:pPr algn="ctr">
              <a:lnSpc>
                <a:spcPts val="1707"/>
              </a:lnSpc>
              <a:spcBef>
                <a:spcPct val="0"/>
              </a:spcBef>
            </a:pPr>
            <a:r>
              <a:rPr lang="en-US" b="true" sz="14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(Near-RT RIC).</a:t>
            </a:r>
          </a:p>
          <a:p>
            <a:pPr algn="ctr">
              <a:lnSpc>
                <a:spcPts val="1707"/>
              </a:lnSpc>
              <a:spcBef>
                <a:spcPct val="0"/>
              </a:spcBef>
            </a:pPr>
            <a:r>
              <a:rPr lang="en-US" b="true" sz="14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Comunicazione serializzata in binario</a:t>
            </a:r>
          </a:p>
          <a:p>
            <a:pPr algn="ctr">
              <a:lnSpc>
                <a:spcPts val="1707"/>
              </a:lnSpc>
              <a:spcBef>
                <a:spcPct val="0"/>
              </a:spcBef>
            </a:pPr>
            <a:r>
              <a:rPr lang="en-US" b="true" sz="14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tramite gRPC su HTTP/2.</a:t>
            </a:r>
          </a:p>
          <a:p>
            <a:pPr algn="ctr">
              <a:lnSpc>
                <a:spcPts val="1707"/>
              </a:lnSpc>
              <a:spcBef>
                <a:spcPct val="0"/>
              </a:spcBef>
            </a:pPr>
            <a:r>
              <a:rPr lang="en-US" b="true" sz="142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Garanzia di latenza minima e stabile.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13856" y="7074170"/>
            <a:ext cx="200918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‹7›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90503" y="1675422"/>
            <a:ext cx="397259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Algoritmi di Tracking: L’EKF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1761" y="2906304"/>
            <a:ext cx="7078191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85"/>
              </a:lnSpc>
              <a:spcBef>
                <a:spcPct val="0"/>
              </a:spcBef>
            </a:pPr>
            <a:r>
              <a:rPr lang="en-US" sz="157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Nucleo matematico basato sull</a:t>
            </a:r>
            <a:r>
              <a:rPr lang="en-US" b="true" sz="157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’Extended Kalman Filter (EKF).</a:t>
            </a:r>
          </a:p>
          <a:p>
            <a:pPr algn="just">
              <a:lnSpc>
                <a:spcPts val="1885"/>
              </a:lnSpc>
              <a:spcBef>
                <a:spcPct val="0"/>
              </a:spcBef>
            </a:pPr>
            <a:r>
              <a:rPr lang="en-US" b="true" sz="157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Fusione sensoriale continua e ciclica</a:t>
            </a:r>
          </a:p>
          <a:p>
            <a:pPr algn="just">
              <a:lnSpc>
                <a:spcPts val="1885"/>
              </a:lnSpc>
              <a:spcBef>
                <a:spcPct val="0"/>
              </a:spcBef>
            </a:pPr>
          </a:p>
          <a:p>
            <a:pPr algn="just">
              <a:lnSpc>
                <a:spcPts val="1885"/>
              </a:lnSpc>
              <a:spcBef>
                <a:spcPct val="0"/>
              </a:spcBef>
            </a:pPr>
            <a:r>
              <a:rPr lang="en-US" b="true" sz="157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1. Predizione: </a:t>
            </a:r>
            <a:r>
              <a:rPr lang="en-US" sz="157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Stima tramite i dati inerziali rumorosi</a:t>
            </a:r>
            <a:r>
              <a:rPr lang="en-US" b="true" sz="157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.</a:t>
            </a:r>
          </a:p>
          <a:p>
            <a:pPr algn="just">
              <a:lnSpc>
                <a:spcPts val="1885"/>
              </a:lnSpc>
              <a:spcBef>
                <a:spcPct val="0"/>
              </a:spcBef>
            </a:pPr>
            <a:r>
              <a:rPr lang="en-US" b="true" sz="157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2. Aggiornamento: </a:t>
            </a:r>
            <a:r>
              <a:rPr lang="en-US" sz="157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Correzione applicando le precise misure radio 6G</a:t>
            </a:r>
          </a:p>
          <a:p>
            <a:pPr algn="just">
              <a:lnSpc>
                <a:spcPts val="1885"/>
              </a:lnSpc>
              <a:spcBef>
                <a:spcPct val="0"/>
              </a:spcBef>
            </a:pPr>
          </a:p>
          <a:p>
            <a:pPr algn="just">
              <a:lnSpc>
                <a:spcPts val="1885"/>
              </a:lnSpc>
              <a:spcBef>
                <a:spcPct val="0"/>
              </a:spcBef>
            </a:pPr>
            <a:r>
              <a:rPr lang="en-US" b="true" sz="157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Abbattimento drastico del rumore di bordo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5351" y="2138265"/>
            <a:ext cx="5021390" cy="3245874"/>
          </a:xfrm>
          <a:custGeom>
            <a:avLst/>
            <a:gdLst/>
            <a:ahLst/>
            <a:cxnLst/>
            <a:rect r="r" b="b" t="t" l="l"/>
            <a:pathLst>
              <a:path h="3245874" w="5021390">
                <a:moveTo>
                  <a:pt x="0" y="0"/>
                </a:moveTo>
                <a:lnTo>
                  <a:pt x="5021390" y="0"/>
                </a:lnTo>
                <a:lnTo>
                  <a:pt x="5021390" y="3245874"/>
                </a:lnTo>
                <a:lnTo>
                  <a:pt x="0" y="3245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61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13856" y="7074170"/>
            <a:ext cx="200918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‹7›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32620" y="1262004"/>
            <a:ext cx="508835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Algoritmi di Tracking: La rete LSTM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7031" y="3076506"/>
            <a:ext cx="3711179" cy="135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7"/>
              </a:lnSpc>
              <a:spcBef>
                <a:spcPct val="0"/>
              </a:spcBef>
            </a:pPr>
            <a:r>
              <a:rPr lang="en-US" b="true" sz="127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L’EKF fallisce linearizzando le curve</a:t>
            </a:r>
          </a:p>
          <a:p>
            <a:pPr algn="ctr">
              <a:lnSpc>
                <a:spcPts val="1527"/>
              </a:lnSpc>
              <a:spcBef>
                <a:spcPct val="0"/>
              </a:spcBef>
            </a:pPr>
            <a:r>
              <a:rPr lang="en-US" b="true" sz="127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strette a 90 gradi.</a:t>
            </a:r>
          </a:p>
          <a:p>
            <a:pPr algn="ctr">
              <a:lnSpc>
                <a:spcPts val="1527"/>
              </a:lnSpc>
              <a:spcBef>
                <a:spcPct val="0"/>
              </a:spcBef>
            </a:pPr>
            <a:r>
              <a:rPr lang="en-US" b="true" sz="127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Subentra la rete neurale LSTM.</a:t>
            </a:r>
          </a:p>
          <a:p>
            <a:pPr algn="ctr">
              <a:lnSpc>
                <a:spcPts val="1527"/>
              </a:lnSpc>
              <a:spcBef>
                <a:spcPct val="0"/>
              </a:spcBef>
            </a:pPr>
            <a:r>
              <a:rPr lang="en-US" b="true" sz="127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I memory gates riconoscono il pattern in</a:t>
            </a:r>
          </a:p>
          <a:p>
            <a:pPr algn="ctr">
              <a:lnSpc>
                <a:spcPts val="1527"/>
              </a:lnSpc>
              <a:spcBef>
                <a:spcPct val="0"/>
              </a:spcBef>
            </a:pPr>
            <a:r>
              <a:rPr lang="en-US" b="true" sz="127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NLoS profondo.</a:t>
            </a:r>
          </a:p>
          <a:p>
            <a:pPr algn="ctr">
              <a:lnSpc>
                <a:spcPts val="1527"/>
              </a:lnSpc>
              <a:spcBef>
                <a:spcPct val="0"/>
              </a:spcBef>
            </a:pPr>
            <a:r>
              <a:rPr lang="en-US" b="true" sz="127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Anticipa la curva perfetta e previene</a:t>
            </a:r>
          </a:p>
          <a:p>
            <a:pPr algn="ctr">
              <a:lnSpc>
                <a:spcPts val="1527"/>
              </a:lnSpc>
              <a:spcBef>
                <a:spcPct val="0"/>
              </a:spcBef>
            </a:pPr>
            <a:r>
              <a:rPr lang="en-US" b="true" sz="1273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schianti contro gli scaffali.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363" y="1387459"/>
            <a:ext cx="3331892" cy="2598876"/>
          </a:xfrm>
          <a:custGeom>
            <a:avLst/>
            <a:gdLst/>
            <a:ahLst/>
            <a:cxnLst/>
            <a:rect r="r" b="b" t="t" l="l"/>
            <a:pathLst>
              <a:path h="2598876" w="3331892">
                <a:moveTo>
                  <a:pt x="0" y="0"/>
                </a:moveTo>
                <a:lnTo>
                  <a:pt x="3331893" y="0"/>
                </a:lnTo>
                <a:lnTo>
                  <a:pt x="3331893" y="2598876"/>
                </a:lnTo>
                <a:lnTo>
                  <a:pt x="0" y="2598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74944" y="1387459"/>
            <a:ext cx="3019959" cy="2631139"/>
          </a:xfrm>
          <a:custGeom>
            <a:avLst/>
            <a:gdLst/>
            <a:ahLst/>
            <a:cxnLst/>
            <a:rect r="r" b="b" t="t" l="l"/>
            <a:pathLst>
              <a:path h="2631139" w="3019959">
                <a:moveTo>
                  <a:pt x="0" y="0"/>
                </a:moveTo>
                <a:lnTo>
                  <a:pt x="3019959" y="0"/>
                </a:lnTo>
                <a:lnTo>
                  <a:pt x="3019959" y="2631139"/>
                </a:lnTo>
                <a:lnTo>
                  <a:pt x="0" y="2631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46104" y="4067116"/>
            <a:ext cx="4861391" cy="2819607"/>
          </a:xfrm>
          <a:custGeom>
            <a:avLst/>
            <a:gdLst/>
            <a:ahLst/>
            <a:cxnLst/>
            <a:rect r="r" b="b" t="t" l="l"/>
            <a:pathLst>
              <a:path h="2819607" w="4861391">
                <a:moveTo>
                  <a:pt x="0" y="0"/>
                </a:moveTo>
                <a:lnTo>
                  <a:pt x="4861392" y="0"/>
                </a:lnTo>
                <a:lnTo>
                  <a:pt x="4861392" y="2819606"/>
                </a:lnTo>
                <a:lnTo>
                  <a:pt x="0" y="2819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13856" y="7074170"/>
            <a:ext cx="200918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‹7›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16461" y="664845"/>
            <a:ext cx="412067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 0 - Mappe Topologiche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587" y="1584067"/>
            <a:ext cx="4520504" cy="4520504"/>
          </a:xfrm>
          <a:custGeom>
            <a:avLst/>
            <a:gdLst/>
            <a:ahLst/>
            <a:cxnLst/>
            <a:rect r="r" b="b" t="t" l="l"/>
            <a:pathLst>
              <a:path h="4520504" w="4520504">
                <a:moveTo>
                  <a:pt x="0" y="0"/>
                </a:moveTo>
                <a:lnTo>
                  <a:pt x="4520504" y="0"/>
                </a:lnTo>
                <a:lnTo>
                  <a:pt x="4520504" y="4520504"/>
                </a:lnTo>
                <a:lnTo>
                  <a:pt x="0" y="4520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20176" y="1255755"/>
            <a:ext cx="3801904" cy="2955981"/>
          </a:xfrm>
          <a:custGeom>
            <a:avLst/>
            <a:gdLst/>
            <a:ahLst/>
            <a:cxnLst/>
            <a:rect r="r" b="b" t="t" l="l"/>
            <a:pathLst>
              <a:path h="2955981" w="3801904">
                <a:moveTo>
                  <a:pt x="0" y="0"/>
                </a:moveTo>
                <a:lnTo>
                  <a:pt x="3801904" y="0"/>
                </a:lnTo>
                <a:lnTo>
                  <a:pt x="3801904" y="2955980"/>
                </a:lnTo>
                <a:lnTo>
                  <a:pt x="0" y="2955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35830" y="4316510"/>
            <a:ext cx="3570596" cy="2499417"/>
          </a:xfrm>
          <a:custGeom>
            <a:avLst/>
            <a:gdLst/>
            <a:ahLst/>
            <a:cxnLst/>
            <a:rect r="r" b="b" t="t" l="l"/>
            <a:pathLst>
              <a:path h="2499417" w="3570596">
                <a:moveTo>
                  <a:pt x="0" y="0"/>
                </a:moveTo>
                <a:lnTo>
                  <a:pt x="3570596" y="0"/>
                </a:lnTo>
                <a:lnTo>
                  <a:pt x="3570596" y="2499418"/>
                </a:lnTo>
                <a:lnTo>
                  <a:pt x="0" y="24994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10642" y="7074170"/>
            <a:ext cx="904132" cy="15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‹N›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93839" y="664845"/>
            <a:ext cx="416592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 1 - Fallimento Baseline 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3552" y="1536478"/>
            <a:ext cx="4023248" cy="4520504"/>
          </a:xfrm>
          <a:custGeom>
            <a:avLst/>
            <a:gdLst/>
            <a:ahLst/>
            <a:cxnLst/>
            <a:rect r="r" b="b" t="t" l="l"/>
            <a:pathLst>
              <a:path h="4520504" w="4023248">
                <a:moveTo>
                  <a:pt x="0" y="0"/>
                </a:moveTo>
                <a:lnTo>
                  <a:pt x="4023248" y="0"/>
                </a:lnTo>
                <a:lnTo>
                  <a:pt x="4023248" y="4520504"/>
                </a:lnTo>
                <a:lnTo>
                  <a:pt x="0" y="4520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02715" y="1397348"/>
            <a:ext cx="3242408" cy="2399382"/>
          </a:xfrm>
          <a:custGeom>
            <a:avLst/>
            <a:gdLst/>
            <a:ahLst/>
            <a:cxnLst/>
            <a:rect r="r" b="b" t="t" l="l"/>
            <a:pathLst>
              <a:path h="2399382" w="3242408">
                <a:moveTo>
                  <a:pt x="0" y="0"/>
                </a:moveTo>
                <a:lnTo>
                  <a:pt x="3242408" y="0"/>
                </a:lnTo>
                <a:lnTo>
                  <a:pt x="3242408" y="2399382"/>
                </a:lnTo>
                <a:lnTo>
                  <a:pt x="0" y="23993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42553" y="3930271"/>
            <a:ext cx="3402570" cy="2466863"/>
          </a:xfrm>
          <a:custGeom>
            <a:avLst/>
            <a:gdLst/>
            <a:ahLst/>
            <a:cxnLst/>
            <a:rect r="r" b="b" t="t" l="l"/>
            <a:pathLst>
              <a:path h="2466863" w="3402570">
                <a:moveTo>
                  <a:pt x="0" y="0"/>
                </a:moveTo>
                <a:lnTo>
                  <a:pt x="3402570" y="0"/>
                </a:lnTo>
                <a:lnTo>
                  <a:pt x="3402570" y="2466863"/>
                </a:lnTo>
                <a:lnTo>
                  <a:pt x="0" y="24668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10642" y="7074170"/>
            <a:ext cx="904132" cy="15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‹N›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85969" y="664845"/>
            <a:ext cx="466360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 2 - Ripristino con RIS Attive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520" y="1748290"/>
            <a:ext cx="8065761" cy="4188006"/>
          </a:xfrm>
          <a:custGeom>
            <a:avLst/>
            <a:gdLst/>
            <a:ahLst/>
            <a:cxnLst/>
            <a:rect r="r" b="b" t="t" l="l"/>
            <a:pathLst>
              <a:path h="4188006" w="8065761">
                <a:moveTo>
                  <a:pt x="0" y="0"/>
                </a:moveTo>
                <a:lnTo>
                  <a:pt x="8065761" y="0"/>
                </a:lnTo>
                <a:lnTo>
                  <a:pt x="8065761" y="4188006"/>
                </a:lnTo>
                <a:lnTo>
                  <a:pt x="0" y="4188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5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10642" y="7074170"/>
            <a:ext cx="904132" cy="15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‹N›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4242" y="1078263"/>
            <a:ext cx="426511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 3 - Stress Test di Latenza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08646" y="2280583"/>
            <a:ext cx="3976945" cy="2754034"/>
          </a:xfrm>
          <a:custGeom>
            <a:avLst/>
            <a:gdLst/>
            <a:ahLst/>
            <a:cxnLst/>
            <a:rect r="r" b="b" t="t" l="l"/>
            <a:pathLst>
              <a:path h="2754034" w="3976945">
                <a:moveTo>
                  <a:pt x="0" y="0"/>
                </a:moveTo>
                <a:lnTo>
                  <a:pt x="3976945" y="0"/>
                </a:lnTo>
                <a:lnTo>
                  <a:pt x="3976945" y="2754034"/>
                </a:lnTo>
                <a:lnTo>
                  <a:pt x="0" y="2754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3023" y="2351480"/>
            <a:ext cx="5399979" cy="2612240"/>
          </a:xfrm>
          <a:custGeom>
            <a:avLst/>
            <a:gdLst/>
            <a:ahLst/>
            <a:cxnLst/>
            <a:rect r="r" b="b" t="t" l="l"/>
            <a:pathLst>
              <a:path h="2612240" w="5399979">
                <a:moveTo>
                  <a:pt x="0" y="0"/>
                </a:moveTo>
                <a:lnTo>
                  <a:pt x="5399980" y="0"/>
                </a:lnTo>
                <a:lnTo>
                  <a:pt x="5399980" y="2612240"/>
                </a:lnTo>
                <a:lnTo>
                  <a:pt x="0" y="2612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10642" y="7074170"/>
            <a:ext cx="904132" cy="15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‹N›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0490" y="1292628"/>
            <a:ext cx="47726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 4 - Ottimizzazione Green 6G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63131" y="1502827"/>
            <a:ext cx="6027338" cy="4309547"/>
          </a:xfrm>
          <a:custGeom>
            <a:avLst/>
            <a:gdLst/>
            <a:ahLst/>
            <a:cxnLst/>
            <a:rect r="r" b="b" t="t" l="l"/>
            <a:pathLst>
              <a:path h="4309547" w="6027338">
                <a:moveTo>
                  <a:pt x="0" y="0"/>
                </a:moveTo>
                <a:lnTo>
                  <a:pt x="6027338" y="0"/>
                </a:lnTo>
                <a:lnTo>
                  <a:pt x="6027338" y="4309546"/>
                </a:lnTo>
                <a:lnTo>
                  <a:pt x="0" y="430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10642" y="7074170"/>
            <a:ext cx="904132" cy="15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‹N›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28491" y="664845"/>
            <a:ext cx="329661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77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Analisi BD-RIS vs D-RIS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907301" y="928569"/>
            <a:ext cx="7938998" cy="5458061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410642" y="7074170"/>
            <a:ext cx="904132" cy="15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‹N›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10642" y="7074170"/>
            <a:ext cx="904132" cy="15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5"/>
              </a:lnSpc>
            </a:pPr>
            <a:r>
              <a:rPr lang="en-US" sz="879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‹N›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023" y="7093810"/>
            <a:ext cx="6063779" cy="17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173">
                <a:solidFill>
                  <a:srgbClr val="E7E6E6"/>
                </a:solidFill>
                <a:latin typeface="Calibri (MS)"/>
                <a:ea typeface="Calibri (MS)"/>
                <a:cs typeface="Calibri (MS)"/>
                <a:sym typeface="Calibri (MS)"/>
              </a:rPr>
              <a:t>tudio e simulazione di un'architettura 6G centralizzata per il tracking di droni indoor assistita da RIS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8845" y="2000250"/>
            <a:ext cx="8875910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b="true" sz="262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biettivi Raggiunti:</a:t>
            </a:r>
          </a:p>
          <a:p>
            <a:pPr algn="l" marL="567152" indent="-283576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sz="26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Tracking sub-metrico NLoS robusto</a:t>
            </a:r>
          </a:p>
          <a:p>
            <a:pPr algn="l" marL="567152" indent="-283576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sz="26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Controller ibrido EKF-LSTM funzionante</a:t>
            </a:r>
          </a:p>
          <a:p>
            <a:pPr algn="l" marL="567152" indent="-283576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sz="26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Efficienza termodinamica Green 6G dimostrata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Sviluppi Futuri:</a:t>
            </a:r>
          </a:p>
          <a:p>
            <a:pPr algn="l" marL="567152" indent="-283576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sz="26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Integrazione di imperfezioni hardware reali (Phase-Errors)</a:t>
            </a:r>
          </a:p>
          <a:p>
            <a:pPr algn="l" marL="567152" indent="-283576" lvl="1">
              <a:lnSpc>
                <a:spcPts val="3152"/>
              </a:lnSpc>
              <a:spcBef>
                <a:spcPct val="0"/>
              </a:spcBef>
              <a:buFont typeface="Arial"/>
              <a:buChar char="•"/>
            </a:pPr>
            <a:r>
              <a:rPr lang="en-US" sz="262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Gestione simmetrica di interi sciami di droni coordinati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7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92763" y="3120069"/>
            <a:ext cx="6968074" cy="95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3"/>
              </a:lnSpc>
            </a:pPr>
            <a:r>
              <a:rPr lang="en-US" b="true" sz="543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Grazie per l’attenzione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15007" y="241773"/>
            <a:ext cx="4019474" cy="152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60"/>
              </a:lnSpc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Scuola di Ingegneria</a:t>
            </a:r>
          </a:p>
          <a:p>
            <a:pPr algn="r">
              <a:lnSpc>
                <a:spcPts val="2560"/>
              </a:lnSpc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Corso di Laurea Triennale in Ingegneria Elettronica e delle Telecomunicazioni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9071" y="4438950"/>
            <a:ext cx="2226171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213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Candidato:</a:t>
            </a:r>
          </a:p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Matteo Verniani</a:t>
            </a:r>
          </a:p>
          <a:p>
            <a:pPr algn="l">
              <a:lnSpc>
                <a:spcPts val="2559"/>
              </a:lnSpc>
              <a:spcBef>
                <a:spcPct val="0"/>
              </a:spcBef>
            </a:pPr>
          </a:p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b="true" sz="213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Relatore:</a:t>
            </a:r>
          </a:p>
          <a:p>
            <a:pPr algn="l">
              <a:lnSpc>
                <a:spcPts val="2559"/>
              </a:lnSpc>
              <a:spcBef>
                <a:spcPct val="0"/>
              </a:spcBef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Prof. Francesco Chiti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4577" y="6791630"/>
            <a:ext cx="1714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A.A.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DAHHYN5ttjo</dc:identifier>
  <dcterms:modified xsi:type="dcterms:W3CDTF">2011-08-01T06:04:30Z</dcterms:modified>
  <cp:revision>1</cp:revision>
  <dc:title>PPT_Niccolò_Montelatici.pptx</dc:title>
</cp:coreProperties>
</file>